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822960"/>
            <a:ext cx="731520" cy="731520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9144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CareFlow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AI-powered medical timeline.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14B8A6"/>
                </a:solidFill>
                <a:latin typeface="Calibri"/>
              </a:rPr>
              <a:t>Built for the doctors drowning in PDFs.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CBD5E1"/>
                </a:solidFill>
                <a:latin typeface="Calibri"/>
              </a:rPr>
              <a:t>A multi-agent system that ingests patient records, builds a chronological timeline, and flags risk evolution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Hackathon submission  ·  CareFlow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6035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14B8A6"/>
                </a:solidFill>
                <a:latin typeface="Calibri"/>
              </a:rPr>
              <a:t>github.com/your-username/careflow</a:t>
            </a:r>
          </a:p>
        </p:txBody>
      </p:sp>
      <p:sp>
        <p:nvSpPr>
          <p:cNvPr id="9" name="Oval 8"/>
          <p:cNvSpPr/>
          <p:nvPr/>
        </p:nvSpPr>
        <p:spPr>
          <a:xfrm>
            <a:off x="10698480" y="548640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18519" y="548640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59" y="548640"/>
            <a:ext cx="164592" cy="16459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0F172A"/>
                </a:solidFill>
                <a:latin typeface="Calibri"/>
              </a:rPr>
              <a:t>Patient history lives in chaos.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4937760" cy="36576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4B8A6"/>
                </a:solidFill>
                <a:latin typeface="Calibri"/>
              </a:rPr>
              <a:t>ON AVERAGE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spent per patient just stitching old PDFs, lab printouts, and scanned notes — before treatment can begin.</a:t>
            </a:r>
          </a:p>
        </p:txBody>
      </p:sp>
      <p:sp>
        <p:nvSpPr>
          <p:cNvPr id="9" name="Oval 8"/>
          <p:cNvSpPr/>
          <p:nvPr/>
        </p:nvSpPr>
        <p:spPr>
          <a:xfrm>
            <a:off x="6035040" y="2423160"/>
            <a:ext cx="320040" cy="3200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42316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Buried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055"/>
                </a:solidFill>
                <a:latin typeface="Calibri"/>
              </a:rPr>
              <a:t>Slowly worsening labs and uncontrolled vitals get lost across visits.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3703320"/>
            <a:ext cx="320040" cy="3200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70332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Fragmented formats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055"/>
                </a:solidFill>
                <a:latin typeface="Calibri"/>
              </a:rPr>
              <a:t>Discharge notes (PDF), labs (printout), prescriptions (photo) — all in different silos.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4983480"/>
            <a:ext cx="320040" cy="3200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498348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937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Zero continuity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3949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055"/>
                </a:solidFill>
                <a:latin typeface="Calibri"/>
              </a:rPr>
              <a:t>The next clinician starts from scratch. The patient suffers for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F172A"/>
                </a:solidFill>
                <a:latin typeface="Calibri"/>
              </a:rPr>
              <a:t>One pipeline. Every record. Every patient.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334055"/>
                </a:solidFill>
                <a:latin typeface="Calibri"/>
              </a:rPr>
              <a:t>Upload a PDF, image, or note. CareFlow extracts the clinical facts, threads them through time, and tells the doctor what changed.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867" y="2834640"/>
            <a:ext cx="26060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5187" y="310896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187" y="3108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187" y="379476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Multimodal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187" y="4389120"/>
            <a:ext cx="2057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055"/>
                </a:solidFill>
                <a:latin typeface="Calibri"/>
              </a:rPr>
              <a:t>PDFs, lab images,
handwritten scans, plain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5507" y="2834640"/>
            <a:ext cx="26060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9827" y="310896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9827" y="3108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9827" y="379476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Structured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9827" y="4389120"/>
            <a:ext cx="2057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055"/>
                </a:solidFill>
                <a:latin typeface="Calibri"/>
              </a:rPr>
              <a:t>Vitals, diagnoses, meds,
labs — typed and dated.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2834640"/>
            <a:ext cx="26060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4467" y="310896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4467" y="3108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4467" y="379476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Change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4389120"/>
            <a:ext cx="2057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055"/>
                </a:solidFill>
                <a:latin typeface="Calibri"/>
              </a:rPr>
              <a:t>Numeric thresholds +
LLM narrative diff.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4787" y="2834640"/>
            <a:ext cx="260604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19107" y="310896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9107" y="3108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9107" y="379476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Doctor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9107" y="4389120"/>
            <a:ext cx="2057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055"/>
                </a:solidFill>
                <a:latin typeface="Calibri"/>
              </a:rPr>
              <a:t>200-word brief
in under 10 seconds.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0F766E"/>
                </a:solidFill>
                <a:latin typeface="Calibri"/>
              </a:rPr>
              <a:t>From scattered documents → to a chronological story your team can actually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F172A"/>
                </a:solidFill>
                <a:latin typeface="Calibri"/>
              </a:rPr>
              <a:t>Seven specialized agents, one orchestrator.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6587" y="2468880"/>
            <a:ext cx="1417320" cy="1645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0655" y="2633472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0655" y="26334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587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" y="3429000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055"/>
                </a:solidFill>
                <a:latin typeface="Calibri"/>
              </a:rPr>
              <a:t>PDF/Image/Text
→ raw text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3051" y="320040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86787" y="2468880"/>
            <a:ext cx="1417320" cy="1645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30855" y="2633472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0855" y="26334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6787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2507" y="3429000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055"/>
                </a:solidFill>
                <a:latin typeface="Calibri"/>
              </a:rPr>
              <a:t>Medical images
→ findings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613251" y="320040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86987" y="2468880"/>
            <a:ext cx="1417320" cy="1645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31055" y="2633472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1055" y="26334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6987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Structuring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2707" y="3429000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055"/>
                </a:solidFill>
                <a:latin typeface="Calibri"/>
              </a:rPr>
              <a:t>Raw text
→ typed JSON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13451" y="320040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87187" y="2468880"/>
            <a:ext cx="1417320" cy="1645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31255" y="2633472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31255" y="26334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7187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2907" y="3429000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055"/>
                </a:solidFill>
                <a:latin typeface="Calibri"/>
              </a:rPr>
              <a:t>Persists events
+ history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813651" y="320040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87387" y="2468880"/>
            <a:ext cx="1417320" cy="1645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31455" y="2633472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1455" y="26334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7387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Timeline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3107" y="3429000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055"/>
                </a:solidFill>
                <a:latin typeface="Calibri"/>
              </a:rPr>
              <a:t>Chronological
view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413851" y="320040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87587" y="2468880"/>
            <a:ext cx="1417320" cy="1645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31655" y="2633472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1655" y="26334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7587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Change Detect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33307" y="3429000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055"/>
                </a:solidFill>
                <a:latin typeface="Calibri"/>
              </a:rPr>
              <a:t>Diff vs prior
→ risk level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014051" y="3200400"/>
            <a:ext cx="164592" cy="182880"/>
          </a:xfrm>
          <a:prstGeom prst="rightArrow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187787" y="2468880"/>
            <a:ext cx="1417320" cy="1645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31855" y="2633472"/>
            <a:ext cx="329184" cy="3291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31855" y="26334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7787" y="30632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Summary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33507" y="3429000"/>
            <a:ext cx="1325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055"/>
                </a:solidFill>
                <a:latin typeface="Calibri"/>
              </a:rPr>
              <a:t>Doctor-ready
Markdown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663440"/>
            <a:ext cx="10698480" cy="15544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4846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B8A6"/>
                </a:solidFill>
                <a:latin typeface="Calibri"/>
              </a:rPr>
              <a:t>DATA 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Upload  →  parse (pdfplumber + PyMuPDF + Tesseract)  →  vision LLM  →  structured JSON  →  SQLite memory  →  diff vs prior  →  doctor brief.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715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BD5E1"/>
                </a:solidFill>
                <a:latin typeface="Calibri"/>
              </a:rPr>
              <a:t>Each agent is a small Python class with one responsibility. Easy to test. Easy to swap.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F172A"/>
                </a:solidFill>
                <a:latin typeface="Calibri"/>
              </a:rPr>
              <a:t>What the doctor sees.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7680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7680960" cy="320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286000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6" y="228600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3584" y="228600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240279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127.0.0.1:8000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ACTIVE 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Sarah Mansouri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  ·  1968-04-12  ·  ID #1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971800"/>
            <a:ext cx="1371600" cy="41148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9718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high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MEDICAL TIMELINE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427939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206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Nov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42062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vital · systolic_bp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4242816"/>
            <a:ext cx="1280160" cy="256032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24281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162 mmHg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" y="473659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6634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Jan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39" y="4663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lab · HbA1c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700016"/>
            <a:ext cx="1280160" cy="256032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70001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7.8 %</a:t>
            </a:r>
          </a:p>
        </p:txBody>
      </p:sp>
      <p:sp>
        <p:nvSpPr>
          <p:cNvPr id="26" name="Oval 25"/>
          <p:cNvSpPr/>
          <p:nvPr/>
        </p:nvSpPr>
        <p:spPr>
          <a:xfrm>
            <a:off x="1051560" y="5193792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51206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Apr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39" y="51206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lab · HbA1c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157216"/>
            <a:ext cx="1280160" cy="256032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515721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8.3 %</a:t>
            </a:r>
          </a:p>
        </p:txBody>
      </p:sp>
      <p:sp>
        <p:nvSpPr>
          <p:cNvPr id="31" name="Oval 30"/>
          <p:cNvSpPr/>
          <p:nvPr/>
        </p:nvSpPr>
        <p:spPr>
          <a:xfrm>
            <a:off x="1051560" y="5650992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5577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Apr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39" y="55778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note · chest tightness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5614416"/>
            <a:ext cx="1280160" cy="256032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561441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ECG ordered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219456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24231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DOCTOR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283463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FBF1"/>
                </a:solidFill>
                <a:latin typeface="Calibri"/>
              </a:rPr>
              <a:t>Active issues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3127247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Uncontrolled HTN; T2DM with worsening glycemic control; new exertional chest pain.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703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FBF1"/>
                </a:solidFill>
                <a:latin typeface="Calibri"/>
              </a:rPr>
              <a:t>Trends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399592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HbA1c 7.4 → 8.3 over 6 months. BP 162/98 → 156/96.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45720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FBF1"/>
                </a:solidFill>
                <a:latin typeface="Calibri"/>
              </a:rPr>
              <a:t>Recent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486460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Amlodipine added; metformin uptitrated.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5440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CFBF1"/>
                </a:solidFill>
                <a:latin typeface="Calibri"/>
              </a:rPr>
              <a:t>Next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573328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Cardiology referral; ECG; reinforce adherence.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From upload to summary in under 30 seconds — entirely in the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F172A"/>
                </a:solidFill>
                <a:latin typeface="Calibri"/>
              </a:rPr>
              <a:t>Boring tech. Hard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334055"/>
                </a:solidFill>
                <a:latin typeface="Calibri"/>
              </a:rPr>
              <a:t>We chose well-known tools so the agents can be the interesting part.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611880" cy="12344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5292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Calibri"/>
              </a:rPr>
              <a:t>Async API gateway, auto-Swagger UI, single-process simplicity.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468880"/>
            <a:ext cx="3611880" cy="12344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246888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6060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5292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SQLite + SQLAlchemy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461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Calibri"/>
              </a:rPr>
              <a:t>Five tables, JSON columns where helpful, zero infra.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468880"/>
            <a:ext cx="3611880" cy="12344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46888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6060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85292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OpenAI GPT-4o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2461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Calibri"/>
              </a:rPr>
              <a:t>Single chokepoint in app/llm.py — swap to Claude in one 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86200"/>
            <a:ext cx="3611880" cy="12344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88620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0233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PARSING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702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pdfplumber, PyMuPDF, Tesseract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6634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Calibri"/>
              </a:rPr>
              <a:t>Text, embedded images, OCR fallback.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886200"/>
            <a:ext cx="3611880" cy="12344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388620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0233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2702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HTML + Tailwind + vanilla 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6634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Calibri"/>
              </a:rPr>
              <a:t>Zero build step, single file, opens anywhere.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886200"/>
            <a:ext cx="3611880" cy="12344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388620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40233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SCHEMA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2702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Pydantic 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466344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34055"/>
                </a:solidFill>
                <a:latin typeface="Calibri"/>
              </a:rPr>
              <a:t>Typed extraction. The LLM has to return valid JSON or it retries.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F172A"/>
                </a:solidFill>
                <a:latin typeface="Calibri"/>
              </a:rPr>
              <a:t>From hackathon to hospital.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6984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9144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420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163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70048"/>
            <a:ext cx="7680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334055"/>
                </a:solidFill>
                <a:latin typeface="Calibri"/>
              </a:rPr>
              <a:t>Multi-agent pipeline, dashboard, seeded demo, synthetic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56432"/>
            <a:ext cx="106984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456432"/>
            <a:ext cx="9144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2102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NEXT 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9534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BAA-covered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49040"/>
            <a:ext cx="7680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334055"/>
                </a:solidFill>
                <a:latin typeface="Calibri"/>
              </a:rPr>
              <a:t>Move to Azure OpenAI / on-prem before any real PHI.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35424"/>
            <a:ext cx="106984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535424"/>
            <a:ext cx="9144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0001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60–90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7433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FHIR adapter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28032"/>
            <a:ext cx="7680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334055"/>
                </a:solidFill>
                <a:latin typeface="Calibri"/>
              </a:rPr>
              <a:t>Plug into existing EHRs — no rip-and-replace.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14416"/>
            <a:ext cx="1069848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614416"/>
            <a:ext cx="91440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779007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6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6053327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"/>
              </a:rPr>
              <a:t>DICOM + clinic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907024"/>
            <a:ext cx="7680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334055"/>
                </a:solidFill>
                <a:latin typeface="Calibri"/>
              </a:rPr>
              <a:t>Real imaging studies; pilot with two outpatient clinics.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548640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548640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914400"/>
            <a:ext cx="164592" cy="16459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914400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B8A6"/>
                </a:solidFill>
                <a:latin typeface="Calibri"/>
              </a:rPr>
              <a:t>CareFlow — every patient deserves a clear 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6607" y="45720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207" y="4754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5029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127.0.0.1:8000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207" y="54406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Click any patient. The pipeline is live.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4207" y="45720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2807" y="4754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807" y="5029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github.com/your-username/careflow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807" y="54406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FastAPI · multi-agent · MIT-style.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807" y="45720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407" y="4754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407" y="5029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ezzouzifatimaezzahrae@gmail.com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54406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Questions, collaborations, pilot interest.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465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Built with synthetic data. Not a medical device.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